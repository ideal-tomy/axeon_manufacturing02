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QUALITY INCIDENT CONSOLE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789920" y="2560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営業説明用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8A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axeonmanufacturing02.vercel.app  |  サンプル工場・デモデータ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8A9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8A9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94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QUALITY INCIDENT CONSOLE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品質異常への対応を、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「調査して終わり」にしない。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現場写真、検査結果、設備履歴、類似事例をつなぎ、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原因調査から是正・承認・ナレッジ化までを一つの案件で追うデモです。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594360" y="3383280"/>
            <a:ext cx="1325880" cy="310896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3438144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営業説明用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57400" y="3383280"/>
            <a:ext cx="1691640" cy="310896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3976" y="3438144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サンプル工場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12648" y="388620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 → デモ → ヒアリング の順で使用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07608" y="685800"/>
            <a:ext cx="5632704" cy="3127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1EC"/>
            </a:solidFill>
            <a:prstDash val="solid"/>
          </a:ln>
        </p:spPr>
      </p:sp>
      <p:pic>
        <p:nvPicPr>
          <p:cNvPr id="12" name="Image 0" descr="/mnt/data/スクリーンショット 2026-09-07 2124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713232"/>
            <a:ext cx="5577840" cy="3072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4360" y="4663440"/>
            <a:ext cx="258775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8280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77240" y="51023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把握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5449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品質対応の状況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55848" y="4663440"/>
            <a:ext cx="258775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38728" y="48280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538728" y="51023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38728" y="5449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不具合画像・条件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17336" y="4663440"/>
            <a:ext cx="258775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0216" y="48280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300216" y="51023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00216" y="5449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原因候補と根拠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878824" y="4663440"/>
            <a:ext cx="258775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61704" y="48280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061704" y="51023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061704" y="5449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是正・承認・再利用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94360" y="617220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6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画面・数値・案件は架空のデモデータです。実導入は顧客環境に合わせて設計します。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現場で起きていること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品質異常が起きると、情報収集から始まる。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不具合そのものより、「必要な情報が別々の場所にある」ことが初動を重くします。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45059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不具合写真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01952" y="245973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現場・検査端末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611880" y="2468880"/>
            <a:ext cx="384048" cy="256032"/>
          </a:xfrm>
          <a:prstGeom prst="chevron">
            <a:avLst/>
          </a:prstGeom>
          <a:solidFill>
            <a:srgbClr val="CBD9E7"/>
          </a:solidFill>
          <a:ln w="12700">
            <a:solidFill>
              <a:srgbClr val="CBD9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118104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23697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検査記録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01952" y="32461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 / Excel / QMS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611880" y="3255264"/>
            <a:ext cx="384048" cy="256032"/>
          </a:xfrm>
          <a:prstGeom prst="chevron">
            <a:avLst/>
          </a:prstGeom>
          <a:solidFill>
            <a:srgbClr val="CBD9E7"/>
          </a:solidFill>
          <a:ln w="12700">
            <a:solidFill>
              <a:srgbClr val="CBD9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904488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0233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設備履歴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01952" y="40325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設備・保全側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611880" y="4041648"/>
            <a:ext cx="384048" cy="256032"/>
          </a:xfrm>
          <a:prstGeom prst="chevron">
            <a:avLst/>
          </a:prstGeom>
          <a:solidFill>
            <a:srgbClr val="CBD9E7"/>
          </a:solidFill>
          <a:ln w="12700">
            <a:solidFill>
              <a:srgbClr val="CBD9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690872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80974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過去事例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01952" y="48188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共有フォルダ / 人の記憶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3611880" y="4828032"/>
            <a:ext cx="384048" cy="256032"/>
          </a:xfrm>
          <a:prstGeom prst="chevron">
            <a:avLst/>
          </a:prstGeom>
          <a:solidFill>
            <a:srgbClr val="CBD9E7"/>
          </a:solidFill>
          <a:ln w="12700">
            <a:solidFill>
              <a:srgbClr val="CBD9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2267712"/>
            <a:ext cx="29260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担当者が集める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73168" y="3218688"/>
            <a:ext cx="1965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過去事例を検索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関係者へ問い合わせ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88352" y="3474720"/>
            <a:ext cx="530352" cy="384048"/>
          </a:xfrm>
          <a:prstGeom prst="chevron">
            <a:avLst/>
          </a:prstGeom>
          <a:solidFill>
            <a:srgbClr val="B8CAE0"/>
          </a:solidFill>
          <a:ln w="12700">
            <a:solidFill>
              <a:srgbClr val="B8CA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2267712"/>
            <a:ext cx="3337560" cy="2926080"/>
          </a:xfrm>
          <a:prstGeom prst="roundRect">
            <a:avLst>
              <a:gd name="adj" fmla="val 3750"/>
            </a:avLst>
          </a:prstGeom>
          <a:solidFill>
            <a:srgbClr val="FFF9F1"/>
          </a:solidFill>
          <a:ln w="12700">
            <a:solidFill>
              <a:srgbClr val="ECD9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2651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その後に、やっと判断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41080" y="3374136"/>
            <a:ext cx="73152" cy="73152"/>
          </a:xfrm>
          <a:prstGeom prst="ellipse">
            <a:avLst/>
          </a:prstGeom>
          <a:solidFill>
            <a:srgbClr val="B46A12"/>
          </a:solidFill>
          <a:ln w="12700">
            <a:solidFill>
              <a:srgbClr val="B46A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87384" y="331012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原因を確認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41080" y="3831336"/>
            <a:ext cx="73152" cy="73152"/>
          </a:xfrm>
          <a:prstGeom prst="ellipse">
            <a:avLst/>
          </a:prstGeom>
          <a:solidFill>
            <a:srgbClr val="B46A12"/>
          </a:solidFill>
          <a:ln w="12700">
            <a:solidFill>
              <a:srgbClr val="B46A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87384" y="376732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是正内容を決める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41080" y="4288536"/>
            <a:ext cx="73152" cy="73152"/>
          </a:xfrm>
          <a:prstGeom prst="ellipse">
            <a:avLst/>
          </a:prstGeom>
          <a:solidFill>
            <a:srgbClr val="B46A12"/>
          </a:solidFill>
          <a:ln w="12700">
            <a:solidFill>
              <a:srgbClr val="B46A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87384" y="422452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承認・記録を残す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78240" y="4800600"/>
            <a:ext cx="2057400" cy="310896"/>
          </a:xfrm>
          <a:prstGeom prst="roundRect">
            <a:avLst/>
          </a:prstGeom>
          <a:solidFill>
            <a:srgbClr val="FCEEDC"/>
          </a:solidFill>
          <a:ln w="12700">
            <a:solidFill>
              <a:srgbClr val="FCEE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14816" y="4855464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ここが属人化しやすい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8A9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このデモが解決すること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発見から再発防止までを、ひとつの案件としてつなぐ。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AI単体ではなく、品質対応の一連の仕事をつなぐことが主題です。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1993392" cy="20574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写真・検査結果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2688336" y="3063240"/>
            <a:ext cx="256032" cy="274320"/>
          </a:xfrm>
          <a:prstGeom prst="chevron">
            <a:avLst/>
          </a:prstGeom>
          <a:solidFill>
            <a:srgbClr val="B6C8DC"/>
          </a:solidFill>
          <a:ln w="12700">
            <a:solidFill>
              <a:srgbClr val="B6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35224" y="2331720"/>
            <a:ext cx="1993392" cy="20574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25146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99816" y="28620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99816" y="3401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案件情報を集約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965192" y="3063240"/>
            <a:ext cx="256032" cy="274320"/>
          </a:xfrm>
          <a:prstGeom prst="chevron">
            <a:avLst/>
          </a:prstGeom>
          <a:solidFill>
            <a:srgbClr val="B6C8DC"/>
          </a:solidFill>
          <a:ln w="12700">
            <a:solidFill>
              <a:srgbClr val="B6C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2331720"/>
            <a:ext cx="1993392" cy="20574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25146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76672" y="28620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原因調査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76672" y="3401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候補と根拠を整理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242048" y="3063240"/>
            <a:ext cx="256032" cy="274320"/>
          </a:xfrm>
          <a:prstGeom prst="chevron">
            <a:avLst/>
          </a:prstGeom>
          <a:solidFill>
            <a:srgbClr val="B6C8DC"/>
          </a:solidFill>
          <a:ln w="12700">
            <a:solidFill>
              <a:srgbClr val="B6C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2331720"/>
            <a:ext cx="1993392" cy="20574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53528" y="25146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53528" y="28620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是正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53528" y="3401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処置・実施結果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9518904" y="3063240"/>
            <a:ext cx="256032" cy="274320"/>
          </a:xfrm>
          <a:prstGeom prst="chevron">
            <a:avLst/>
          </a:prstGeom>
          <a:solidFill>
            <a:srgbClr val="B6C8DC"/>
          </a:solidFill>
          <a:ln w="12700">
            <a:solidFill>
              <a:srgbClr val="B6C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65792" y="2331720"/>
            <a:ext cx="1993392" cy="20574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30384" y="25146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930384" y="28620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承認・再利用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30384" y="3401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標準書・ナレッジ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60120" y="4828032"/>
            <a:ext cx="10241280" cy="932688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2700">
            <a:solidFill>
              <a:srgbClr val="D4E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5074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デモで見せたい価値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88920" y="501091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「探す」「確認する」「人に聞く」を減らし、同じ案件の中で判断・記録・次回活用まで進めやすくする。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8A9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デモの見方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4つの画面を見るだけで、仕事の流れが分かる。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画面ごとに役割を分け、説明文ではなく状態・写真・根拠・完了結果で見せます。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2304288"/>
            <a:ext cx="2478024" cy="14081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1EC"/>
            </a:solidFill>
            <a:prstDash val="solid"/>
          </a:ln>
        </p:spPr>
      </p:sp>
      <p:pic>
        <p:nvPicPr>
          <p:cNvPr id="6" name="Image 0" descr="/mnt/data/スクリーンショット 2026-09-07 2124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31720"/>
            <a:ext cx="2423160" cy="1353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9136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4360" y="4178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45171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優先案件を把握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18104" y="2944368"/>
            <a:ext cx="219456" cy="228600"/>
          </a:xfrm>
          <a:prstGeom prst="chevron">
            <a:avLst/>
          </a:prstGeom>
          <a:solidFill>
            <a:srgbClr val="B6C8DC"/>
          </a:solidFill>
          <a:ln w="12700">
            <a:solidFill>
              <a:srgbClr val="B6C8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9856" y="2304288"/>
            <a:ext cx="2478024" cy="14081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1EC"/>
            </a:solidFill>
            <a:prstDash val="solid"/>
          </a:ln>
        </p:spPr>
      </p:sp>
      <p:pic>
        <p:nvPicPr>
          <p:cNvPr id="12" name="Image 1" descr="/mnt/data/スクリーンショット 2026-09-07 2124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331720"/>
            <a:ext cx="2423160" cy="1353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288" y="39136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447288" y="4178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Incident / AI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47288" y="45171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画像と条件を確認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71032" y="2944368"/>
            <a:ext cx="219456" cy="228600"/>
          </a:xfrm>
          <a:prstGeom prst="chevron">
            <a:avLst/>
          </a:prstGeom>
          <a:solidFill>
            <a:srgbClr val="B6C8DC"/>
          </a:solidFill>
          <a:ln w="12700">
            <a:solidFill>
              <a:srgbClr val="B6C8D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72784" y="2304288"/>
            <a:ext cx="2478024" cy="14081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1EC"/>
            </a:solidFill>
            <a:prstDash val="solid"/>
          </a:ln>
        </p:spPr>
      </p:sp>
      <p:pic>
        <p:nvPicPr>
          <p:cNvPr id="18" name="Image 2" descr="/mnt/data/スクリーンショット 2026-09-07 21250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331720"/>
            <a:ext cx="2423160" cy="1353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0216" y="39136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300216" y="4178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0216" y="45171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原因候補と根拠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823960" y="2944368"/>
            <a:ext cx="219456" cy="228600"/>
          </a:xfrm>
          <a:prstGeom prst="chevron">
            <a:avLst/>
          </a:prstGeom>
          <a:solidFill>
            <a:srgbClr val="B6C8DC"/>
          </a:solidFill>
          <a:ln w="12700">
            <a:solidFill>
              <a:srgbClr val="B6C8D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25712" y="2304288"/>
            <a:ext cx="2478024" cy="14081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1EC"/>
            </a:solidFill>
            <a:prstDash val="solid"/>
          </a:ln>
        </p:spPr>
      </p:sp>
      <p:pic>
        <p:nvPicPr>
          <p:cNvPr id="24" name="Image 3" descr="/mnt/data/スクリーンショット 2026-09-07 21245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144" y="2331720"/>
            <a:ext cx="2423160" cy="1353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53144" y="39136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9153144" y="4178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Corrective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153144" y="45171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是正・承認・再利用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94360" y="5212080"/>
            <a:ext cx="11018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68680" y="542239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営業では、画面の機能名を全部説明するより「今この画面で何を判断しているか」を一言で伝える。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8A9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サンプル事例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主力部品 A-214 に、外観検査で表面キズを検出。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すべての画面で同じ案件を追うため、デモのつながりが分かりやすくなっています。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12648" y="2240280"/>
            <a:ext cx="5632704" cy="31455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1EC"/>
            </a:solidFill>
            <a:prstDash val="solid"/>
          </a:ln>
        </p:spPr>
      </p:sp>
      <p:pic>
        <p:nvPicPr>
          <p:cNvPr id="6" name="Image 0" descr="/mnt/data/スクリーンショット 2026-09-07 2124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67712"/>
            <a:ext cx="557784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65392" y="2267712"/>
            <a:ext cx="4937760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2578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この案件で確認すること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31152" y="30358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部品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882128" y="3017520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主力部品 A-214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31152" y="3282696"/>
            <a:ext cx="4160520" cy="0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31152" y="33832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82128" y="3364992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表面キズ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31152" y="3630168"/>
            <a:ext cx="4160520" cy="0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37307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工程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882128" y="3712464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Cライン / 外観検査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31152" y="3977640"/>
            <a:ext cx="4160520" cy="0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31152" y="40782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ロット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882128" y="4059936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LOT-260907-C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31152" y="4325112"/>
            <a:ext cx="4160520" cy="0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31152" y="44256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検出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882128" y="4407408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14:08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31152" y="4672584"/>
            <a:ext cx="4160520" cy="0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31152" y="47731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882128" y="4754880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要因調査中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931152" y="5047488"/>
            <a:ext cx="2194560" cy="310896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67728" y="5102352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架空のサンプル案件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8A9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AI分析の役割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AIは「原因を確定する」のではなく、調査候補と根拠を整理する。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この言い方を営業説明でも統一します。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2212848"/>
            <a:ext cx="6592824" cy="37124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1EC"/>
            </a:solidFill>
            <a:prstDash val="solid"/>
          </a:ln>
        </p:spPr>
      </p:sp>
      <p:pic>
        <p:nvPicPr>
          <p:cNvPr id="6" name="Image 0" descr="/mnt/data/スクリーンショット 2026-09-07 2125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0280"/>
            <a:ext cx="653796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16368" y="224028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27264" y="2523744"/>
            <a:ext cx="1325880" cy="310896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2578608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重要ポイント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818120" y="2971800"/>
            <a:ext cx="310896" cy="310896"/>
          </a:xfrm>
          <a:prstGeom prst="ellipse">
            <a:avLst/>
          </a:prstGeom>
          <a:solidFill>
            <a:srgbClr val="235B98"/>
          </a:solidFill>
          <a:ln w="12700">
            <a:solidFill>
              <a:srgbClr val="235B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303580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275320" y="2962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時系列をそろえる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75320" y="322783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加工・搬送・検査・検出を一続きで確認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7818120" y="3611880"/>
            <a:ext cx="310896" cy="310896"/>
          </a:xfrm>
          <a:prstGeom prst="ellipse">
            <a:avLst/>
          </a:prstGeom>
          <a:solidFill>
            <a:srgbClr val="235B98"/>
          </a:solidFill>
          <a:ln w="12700">
            <a:solidFill>
              <a:srgbClr val="235B9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367588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275320" y="36027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関係を見せる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75320" y="386791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治具、ライン、キズ位置、類似事例を関連付け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7818120" y="4251960"/>
            <a:ext cx="310896" cy="310896"/>
          </a:xfrm>
          <a:prstGeom prst="ellipse">
            <a:avLst/>
          </a:prstGeom>
          <a:solidFill>
            <a:srgbClr val="235B98"/>
          </a:solidFill>
          <a:ln w="12700">
            <a:solidFill>
              <a:srgbClr val="235B9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431596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275320" y="42428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候補を絞る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75320" y="450799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「搬送治具の接触痕」など確認順を提示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7818120" y="4892040"/>
            <a:ext cx="310896" cy="310896"/>
          </a:xfrm>
          <a:prstGeom prst="ellipse">
            <a:avLst/>
          </a:prstGeom>
          <a:solidFill>
            <a:srgbClr val="235B98"/>
          </a:solidFill>
          <a:ln w="12700">
            <a:solidFill>
              <a:srgbClr val="235B9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18120" y="495604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275320" y="48828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根拠を残す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75320" y="5148072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類似画像、直近発生、交換履歴などを一緒に表示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7818120" y="5468112"/>
            <a:ext cx="2971800" cy="310896"/>
          </a:xfrm>
          <a:prstGeom prst="roundRect">
            <a:avLst/>
          </a:prstGeom>
          <a:solidFill>
            <a:srgbClr val="FFF2DF"/>
          </a:solidFill>
          <a:ln w="12700">
            <a:solidFill>
              <a:srgbClr val="FFF2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54696" y="5522976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原因の最終判断は人が行う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8A9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導入時に期待する変化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品質対応の「速さ」だけでなく、調査と記録のばらつきを減らす。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定量効果は顧客の運用・データ・連携範囲によって異なるため、商談では保証値として説明しません。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52303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5054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99616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初動確認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9616" y="2862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必要情報を同じ案件に集め、確認先を減らす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36208" y="2286000"/>
            <a:ext cx="52303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25054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77456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調査の標準化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77456" y="2862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原因候補と根拠を共通の見方で確認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3886200"/>
            <a:ext cx="52303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1056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99616" y="4050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過去事例の再利用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99616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似た不具合・対策を次回の調査に活用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36208" y="3886200"/>
            <a:ext cx="52303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41056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77456" y="4050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対策漏れの防止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77456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是正・承認・標準書反映まで状態を残す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5532120"/>
            <a:ext cx="10808208" cy="566928"/>
          </a:xfrm>
          <a:prstGeom prst="roundRect">
            <a:avLst>
              <a:gd name="adj" fmla="val 19355"/>
            </a:avLst>
          </a:prstGeom>
          <a:solidFill>
            <a:srgbClr val="EAF2FB"/>
          </a:solidFill>
          <a:ln w="12700">
            <a:solidFill>
              <a:srgbClr val="D4E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73328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営業では「何時間短縮」「不良率○%改善」など、デモだけでは裏付けられない数値を置かない。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8A9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導入後のイメージ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品質部門だけでなく、生産・設備・現場責任者が同じ案件を見る。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58191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全部を一度に置き換えるのではなく、現在使っている情報から接続・統合の範囲を決めます。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48716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45973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検査結果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不具合票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248716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83080" y="447141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工程実績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ロット情報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15400" y="2286000"/>
            <a:ext cx="248716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960" y="245973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停止履歴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保全記録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15400" y="4297680"/>
            <a:ext cx="248716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現場責任者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66960" y="447141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是正状況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5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2468880"/>
            <a:ext cx="4069080" cy="2834640"/>
          </a:xfrm>
          <a:prstGeom prst="roundRect">
            <a:avLst>
              <a:gd name="adj" fmla="val 3871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1546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QUALITY INCIDENT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CONSOLE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5B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同じ不具合案件を共通画面で確認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2880360"/>
            <a:ext cx="804672" cy="411480"/>
          </a:xfrm>
          <a:prstGeom prst="line">
            <a:avLst/>
          </a:prstGeom>
          <a:noFill/>
          <a:ln w="19050">
            <a:solidFill>
              <a:srgbClr val="9BB8D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18688" y="4800600"/>
            <a:ext cx="804672" cy="-274320"/>
          </a:xfrm>
          <a:prstGeom prst="line">
            <a:avLst/>
          </a:prstGeom>
          <a:noFill/>
          <a:ln w="19050">
            <a:solidFill>
              <a:srgbClr val="9BB8D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92440" y="3291840"/>
            <a:ext cx="822960" cy="-411480"/>
          </a:xfrm>
          <a:prstGeom prst="line">
            <a:avLst/>
          </a:prstGeom>
          <a:noFill/>
          <a:ln w="19050">
            <a:solidFill>
              <a:srgbClr val="9BB8D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92440" y="4526280"/>
            <a:ext cx="822960" cy="274320"/>
          </a:xfrm>
          <a:prstGeom prst="line">
            <a:avLst/>
          </a:prstGeom>
          <a:noFill/>
          <a:ln w="19050">
            <a:solidFill>
              <a:srgbClr val="9BB8D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" y="5742432"/>
            <a:ext cx="10561320" cy="475488"/>
          </a:xfrm>
          <a:prstGeom prst="roundRect">
            <a:avLst>
              <a:gd name="adj" fmla="val 23077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90702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次のステップ：実際に使っている不具合票・Excel・写真・設備情報を1つ確認し、最初に置き換える範囲を整理する。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98A9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AXEON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Incident Console 営業説明スライド</dc:title>
  <dc:subject>Quality Incident Console 営業説明用</dc:subject>
  <dc:creator>OpenAI</dc:creator>
  <cp:lastModifiedBy>OpenAI</cp:lastModifiedBy>
  <cp:revision>1</cp:revision>
  <dcterms:created xsi:type="dcterms:W3CDTF">2026-09-07T12:31:01Z</dcterms:created>
  <dcterms:modified xsi:type="dcterms:W3CDTF">2026-09-07T12:31:01Z</dcterms:modified>
</cp:coreProperties>
</file>